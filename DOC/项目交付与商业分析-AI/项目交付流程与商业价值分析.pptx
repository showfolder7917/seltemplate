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df9627a3a24a26" /><Relationship Type="http://schemas.openxmlformats.org/officeDocument/2006/relationships/extended-properties" Target="/docProps/app.xml" Id="Rb098c43682dd47ea" /><Relationship Type="http://schemas.openxmlformats.org/officeDocument/2006/relationships/officeDocument" Target="/ppt/presentation.xml" Id="R32d02ea65a1040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5e6882e8c141ff"/>
  </p:sldMasterIdLst>
  <p:notesMasterIdLst>
    <p:notesMasterId xmlns:r="http://schemas.openxmlformats.org/officeDocument/2006/relationships" r:id="R71d07546d53c4ee4"/>
  </p:notesMasterIdLst>
  <p:sldIdLst>
    <p:sldId xmlns:r="http://schemas.openxmlformats.org/officeDocument/2006/relationships" id="256" r:id="Rffc027d997ee4b86"/>
    <p:sldId xmlns:r="http://schemas.openxmlformats.org/officeDocument/2006/relationships" id="257" r:id="Rdbb4113e05a74c23"/>
    <p:sldId xmlns:r="http://schemas.openxmlformats.org/officeDocument/2006/relationships" id="258" r:id="Rb9bb695ae4b74855"/>
    <p:sldId xmlns:r="http://schemas.openxmlformats.org/officeDocument/2006/relationships" id="259" r:id="R0a3a890a29314f73"/>
    <p:sldId xmlns:r="http://schemas.openxmlformats.org/officeDocument/2006/relationships" id="260" r:id="R41083fecb40b4cee"/>
    <p:sldId xmlns:r="http://schemas.openxmlformats.org/officeDocument/2006/relationships" id="261" r:id="Rab6738e220154e1c"/>
    <p:sldId xmlns:r="http://schemas.openxmlformats.org/officeDocument/2006/relationships" id="262" r:id="R076e62b9a9f24d79"/>
    <p:sldId xmlns:r="http://schemas.openxmlformats.org/officeDocument/2006/relationships" id="263" r:id="R787838ae79334b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e6882e8c141ff" /><Relationship Type="http://schemas.openxmlformats.org/officeDocument/2006/relationships/theme" Target="/ppt/theme/theme1.xml" Id="R435c4c65e8474cdd" /><Relationship Type="http://schemas.openxmlformats.org/officeDocument/2006/relationships/notesMaster" Target="/ppt/notesMasters/notesMaster1.xml" Id="R71d07546d53c4ee4" /><Relationship Type="http://schemas.openxmlformats.org/officeDocument/2006/relationships/presProps" Target="/ppt/presProps.xml" Id="R7090c429e6bf454a" /><Relationship Type="http://schemas.openxmlformats.org/officeDocument/2006/relationships/viewProps" Target="/ppt/viewProps.xml" Id="R7b2fa85172854f05" /><Relationship Type="http://schemas.openxmlformats.org/officeDocument/2006/relationships/tableStyles" Target="/ppt/tableStyles.xml" Id="Rce65fd8d40a645fc" /><Relationship Type="http://schemas.openxmlformats.org/officeDocument/2006/relationships/slide" Target="/ppt/slides/slide1.xml" Id="Rffc027d997ee4b86" /><Relationship Type="http://schemas.openxmlformats.org/officeDocument/2006/relationships/slide" Target="/ppt/slides/slide2.xml" Id="Rdbb4113e05a74c23" /><Relationship Type="http://schemas.openxmlformats.org/officeDocument/2006/relationships/slide" Target="/ppt/slides/slide3.xml" Id="Rb9bb695ae4b74855" /><Relationship Type="http://schemas.openxmlformats.org/officeDocument/2006/relationships/slide" Target="/ppt/slides/slide4.xml" Id="R0a3a890a29314f73" /><Relationship Type="http://schemas.openxmlformats.org/officeDocument/2006/relationships/slide" Target="/ppt/slides/slide5.xml" Id="R41083fecb40b4cee" /><Relationship Type="http://schemas.openxmlformats.org/officeDocument/2006/relationships/slide" Target="/ppt/slides/slide6.xml" Id="Rab6738e220154e1c" /><Relationship Type="http://schemas.openxmlformats.org/officeDocument/2006/relationships/slide" Target="/ppt/slides/slide7.xml" Id="R076e62b9a9f24d79" /><Relationship Type="http://schemas.openxmlformats.org/officeDocument/2006/relationships/slide" Target="/ppt/slides/slide8.xml" Id="R787838ae79334b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19ea5adf4dd4c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e37c4418464655" /><Relationship Type="http://schemas.openxmlformats.org/officeDocument/2006/relationships/notesMaster" Target="/ppt/notesMasters/notesMaster1.xml" Id="Ra2c18015bdd54e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52a99b29354d7e" /><Relationship Type="http://schemas.openxmlformats.org/officeDocument/2006/relationships/notesMaster" Target="/ppt/notesMasters/notesMaster1.xml" Id="Rc6acf21a50f343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857ba9d4a74b84" /><Relationship Type="http://schemas.openxmlformats.org/officeDocument/2006/relationships/notesMaster" Target="/ppt/notesMasters/notesMaster1.xml" Id="R8f8f1a9cc13843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921f2bfe2b4292" /><Relationship Type="http://schemas.openxmlformats.org/officeDocument/2006/relationships/notesMaster" Target="/ppt/notesMasters/notesMaster1.xml" Id="Rf1baf53df1cd47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7b650e9ef3423a" /><Relationship Type="http://schemas.openxmlformats.org/officeDocument/2006/relationships/notesMaster" Target="/ppt/notesMasters/notesMaster1.xml" Id="R517f6a794f9048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9d1328f5ed4985" /><Relationship Type="http://schemas.openxmlformats.org/officeDocument/2006/relationships/notesMaster" Target="/ppt/notesMasters/notesMaster1.xml" Id="Rd8d051d0b09940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e5918858a54e00" /><Relationship Type="http://schemas.openxmlformats.org/officeDocument/2006/relationships/notesMaster" Target="/ppt/notesMasters/notesMaster1.xml" Id="Rda1ce6377b4945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a33a9a2dd340d7" /><Relationship Type="http://schemas.openxmlformats.org/officeDocument/2006/relationships/notesMaster" Target="/ppt/notesMasters/notesMaster1.xml" Id="Rdba5a779c15546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d1740444940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5ea782fa9a4644" /><Relationship Type="http://schemas.openxmlformats.org/officeDocument/2006/relationships/slideLayout" Target="/ppt/slideLayouts/slideLayout2.xml" Id="Re961e163171844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61e163171844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b55068360d49b3" /><Relationship Type="http://schemas.openxmlformats.org/officeDocument/2006/relationships/notesSlide" Target="/ppt/notesSlides/notesSlide1.xml" Id="Rd0410cc17b3e4e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b7d288950f4b1f" /><Relationship Type="http://schemas.openxmlformats.org/officeDocument/2006/relationships/notesSlide" Target="/ppt/notesSlides/notesSlide2.xml" Id="R9cbf8ba20cbc41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4b35253c74425" /><Relationship Type="http://schemas.openxmlformats.org/officeDocument/2006/relationships/notesSlide" Target="/ppt/notesSlides/notesSlide3.xml" Id="Rda39b230e5ae42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296ad044e54470" /><Relationship Type="http://schemas.openxmlformats.org/officeDocument/2006/relationships/notesSlide" Target="/ppt/notesSlides/notesSlide4.xml" Id="Ra2ce5bcf850c48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1bb42d7d04300" /><Relationship Type="http://schemas.openxmlformats.org/officeDocument/2006/relationships/notesSlide" Target="/ppt/notesSlides/notesSlide5.xml" Id="Re61dc912a00d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98362abbec450d" /><Relationship Type="http://schemas.openxmlformats.org/officeDocument/2006/relationships/notesSlide" Target="/ppt/notesSlides/notesSlide6.xml" Id="R3ae643fd152941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93a587c7494572" /><Relationship Type="http://schemas.openxmlformats.org/officeDocument/2006/relationships/notesSlide" Target="/ppt/notesSlides/notesSlide7.xml" Id="R5daaf22833da49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39eed8f8f64c89" /><Relationship Type="http://schemas.openxmlformats.org/officeDocument/2006/relationships/notesSlide" Target="/ppt/notesSlides/notesSlide8.xml" Id="Rcd22001adec746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13E6C-715E-4E09-BF3A-6DBC6994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5"/>
          </a:solidFill>
          <a:ln xmlns:a="http://schemas.openxmlformats.org/drawingml/2006/main" w="0">
            <a:solidFill>
              <a:srgbClr val="0E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F517D-45BD-408C-987B-2DB132BB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D7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5D748-8189-4AA1-82A9-0274867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239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4B074-8DAD-449B-ABE7-E55CCAB1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DELIVERY PLAYBOOK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3EA25-23A8-4BF3-AEFF-A568FA08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6A"/>
          </a:solidFill>
          <a:ln xmlns:a="http://schemas.openxmlformats.org/drawingml/2006/main" w="0">
            <a:solidFill>
              <a:srgbClr val="3147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3BB33-2F2E-4671-81D6-BD4D47C3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7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7C4"/>
                </a:solidFill>
                <a:latin typeface="Aptos"/>
                <a:ea typeface="Aptos"/>
                <a:cs typeface="Aptos"/>
              </a:rPr>
              <a:t>SELTEMPLATE 项目接入与商业化分析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A2209-F330-4D14-B7B4-30399555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26DFE-A4A0-4E60-91C3-E3397A3D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rPr>
              <a:t>从接项目到交付完成</a:t>
            </a:r>
          </a:p>
          <a:p xmlns:a="http://schemas.openxmlformats.org/drawingml/2006/main">
            <a:pPr algn="l">
              <a:defRPr sz="2325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rPr>
              <a:t>的标准流程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CE4EA-C8A7-43C1-8E12-73C6BFDC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基于 SELTEMPLATE、SELSP、SELVUE、SELTHEME 的现有模板体系，</a:t>
            </a:r>
          </a:p>
          <a:p xmlns:a="http://schemas.openxmlformats.org/drawingml/2006/main">
            <a:pPr algn="l">
              <a:defRPr sz="12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沉淀客户对接、研发准备、交付闭环和商业价值判断。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6A525-9910-4C8F-93F7-5F137626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A"/>
          </a:solidFill>
          <a:ln xmlns:a="http://schemas.openxmlformats.org/drawingml/2006/main" w="9525">
            <a:solidFill>
              <a:srgbClr val="4BBB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C8483-E19C-4B0B-B531-5595261A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客户对接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841A2-43F4-4224-B677-CDC3C9EA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289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A"/>
          </a:solidFill>
          <a:ln xmlns:a="http://schemas.openxmlformats.org/drawingml/2006/main" w="9525">
            <a:solidFill>
              <a:srgbClr val="4BBB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9C398-F65E-442B-81F9-33BD59DA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86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工程交付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DB1D0-3073-4605-93A1-57907759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289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3A"/>
          </a:solidFill>
          <a:ln xmlns:a="http://schemas.openxmlformats.org/drawingml/2006/main" w="9525">
            <a:solidFill>
              <a:srgbClr val="7EF7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92DF8-2DEC-4A66-BCD2-11F05C60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商业化判断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E780B-F3A4-4592-B7A2-4E98524A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52500"/>
            <a:ext cx="33909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6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FCE87-4AC9-462D-8743-477E2C05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573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当前模板资产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DDD1C-13A9-45EC-AACD-BA73DB16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3DF1F-C914-4310-858B-CA190D0C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SELTEMPLATE：模板工程样例仓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4CA70-1B02-44CE-AD26-63F34193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28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D217F-44C9-488E-9168-CC0C97B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SELSP：Java 后端交付基线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49A59-AD28-448F-93EC-8D13AE3A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A7872-43F8-4E91-B315-14194E4E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SELVUE：Vue 前端交付基线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00E477-4D57-4788-9744-DD0F033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7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6113A-BC46-4D36-8B7F-66D7193B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SELTHEME：主题与 demo 基线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CACD9-C70A-4B24-A41D-9E938D72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7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68070-387E-4E19-AEFE-FCAA994D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架构-AI：Java / Vue / 主题规范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2AD57-2849-4E60-9FFA-6E33986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81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F7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211189-0764-4F34-8805-7DE4CF36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启动器 + 测试 + 文档 + 记账闭环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02577-6C2C-42B9-B02A-8AF57BA5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当前最优切入：</a:t>
            </a:r>
          </a:p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B2B 管理后台与行业化业务系统</a:t>
            </a:r>
          </a:p>
        </p:txBody>
      </p:sp>
    </p:spTree>
    <p:extLst>
      <p:ext uri="{BB962C8B-B14F-4D97-AF65-F5344CB8AC3E}">
        <p14:creationId xmlns:p14="http://schemas.microsoft.com/office/powerpoint/2010/main" val="10637480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34E5EE-ED2E-482D-96C5-44BD4E2B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5"/>
          </a:solidFill>
          <a:ln xmlns:a="http://schemas.openxmlformats.org/drawingml/2006/main" w="0">
            <a:solidFill>
              <a:srgbClr val="0E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AFD7D-12A2-4C42-A9F2-54BE753B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D7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46961-1D93-498A-B031-CD77E2CD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239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46A9C-4C04-49FD-ACE8-A69047BF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B9CC2-5EDC-4553-941E-31DDFE3E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6A"/>
          </a:solidFill>
          <a:ln xmlns:a="http://schemas.openxmlformats.org/drawingml/2006/main" w="0">
            <a:solidFill>
              <a:srgbClr val="3147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8CA22-B9E4-4B83-BBF4-9C5AF15D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7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7C4"/>
                </a:solidFill>
                <a:latin typeface="Aptos"/>
                <a:ea typeface="Aptos"/>
                <a:cs typeface="Aptos"/>
              </a:rPr>
              <a:t>SELTEMPLATE 项目接入与商业化分析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39C01-2330-4DB6-A515-4847AFF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FC85E-E7BE-4FD1-BDA7-62CFA6E6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rPr>
              <a:t>标准交付链路：从商机进入到复购扩展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FDD06-2405-46D3-8423-CC8B45AF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建议把接项目到交付完成拆成 9 个阶段，每一段都要有明确输入、动作与输出。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76A4A-D884-4820-8E45-DA875950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20478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6FE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98B9F-85CB-4E1A-A593-99E60DD7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C95CF-D74E-4806-82D0-BD1232DB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商机进入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6BE56-8A4C-4A22-B4F4-BFC26B9A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743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初判行业、预算、时间和项目体量。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0E7C2-784D-4120-B6C1-13F5F8CA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38300"/>
            <a:ext cx="20478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6FE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7FA6A-F813-4EEA-81A3-EA279265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71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237DF-0F58-4C85-9735-D107CA06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77165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客户对接准备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F5087-85FA-4EF6-A80C-4AF888EF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76450"/>
            <a:ext cx="1743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准备案例、样例工程、问题清单和报价维度。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CA4F8-19FD-4B5F-B5A1-E7B591DA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38300"/>
            <a:ext cx="20478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6FE6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1DBC5-E17F-4B71-A2E5-B6951268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71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1258E-D521-45C3-B281-D4DEAEA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7165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需求澄清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F7E60-FBE9-405D-AF76-B78B3F7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76450"/>
            <a:ext cx="1743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确认角色、模块、边界、对接项和待确认清单。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2CF29-B670-423E-8A7A-A81403F1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638300"/>
            <a:ext cx="20478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0A144-07A3-42E5-BDC2-DDBBE896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71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0818C-81E0-49B7-B7FE-BF0439C0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7165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方案与报价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9B63F-5F1E-47B7-BBD5-FC9F3B2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76450"/>
            <a:ext cx="1743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给出技术方案、排期、范围和商务边界。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B2B37-48BA-4F10-AB1A-8576DF9A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38300"/>
            <a:ext cx="20478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9A9AC-B0F1-453F-BB30-2B80037F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71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BFBF4-CF41-496A-A96E-7974AA3D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7165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立项与准备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A2DE2-8836-4A4A-849F-F7E5FB70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6450"/>
            <a:ext cx="1743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冻结版本、建目录、定里程碑、拆任务。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1BA5FE-DFF2-4A05-BB91-63DF9BBB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95700"/>
            <a:ext cx="20478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7F8F5-ACB7-468E-8E8E-27C533D9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290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654BA-DEA3-4F53-AF02-AA5E91B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2905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工程开发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5B000E-4BEE-4C8C-82A7-4DEB5FB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33850"/>
            <a:ext cx="1743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按 Java / Vue / Python 模板分层落地并阶段验证。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07BA5-7BFF-4E90-9F9D-F4E8EFAB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95700"/>
            <a:ext cx="20478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E87D6A-4FA7-4A31-87BA-0C14F4C7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290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492769-17BD-44EE-B165-B52560FE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2905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联调与测试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1EF9A1-8E27-4DA1-9DA6-81E234CA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133850"/>
            <a:ext cx="1743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补主路径、异常路径、脚本与页面回归验证。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D7FF5B-A554-44B0-B0D9-2FFE32B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20478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7EF7C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EDB0B6-D393-4674-8F7E-48DA1540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7EF7C9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7CE1EE-365B-48CF-B032-84578E13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验收与交付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B7B4-7195-4356-AE00-CDC58079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1743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交源码、文档、测试报告、部署说明与培训。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BF19AB-A456-4056-9DE7-7837C550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95700"/>
            <a:ext cx="20478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7EF7C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E73BE0-A47E-4637-B5D0-73BB0E66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290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7EF7C9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076815-053D-4090-9097-44366A7A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29050"/>
            <a:ext cx="1362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售后与扩展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EDF3B3-45ED-450A-884A-A1E68E6C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33850"/>
            <a:ext cx="17430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形成行业模板、复购清单和升级建议。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A88398-B9D6-4752-9404-92CC78F4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15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关键判断：项目成败不只取决于开发速度，更取决于前置澄清和交付闭环是否完整。</a:t>
            </a:r>
          </a:p>
        </p:txBody>
      </p:sp>
    </p:spTree>
    <p:extLst>
      <p:ext uri="{BB962C8B-B14F-4D97-AF65-F5344CB8AC3E}">
        <p14:creationId xmlns:p14="http://schemas.microsoft.com/office/powerpoint/2010/main" val="7894980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8BBA7-1452-461B-A4D8-7B96ECDC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5"/>
          </a:solidFill>
          <a:ln xmlns:a="http://schemas.openxmlformats.org/drawingml/2006/main" w="0">
            <a:solidFill>
              <a:srgbClr val="0E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53C52-1598-4D7B-BA42-1A0D62C1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D7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719F5-555E-4A13-9401-1BEEBDCF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239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83B2A-FAA0-488D-961A-32346837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CLIENT PREP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67237-30C8-47A6-8F14-D29584DE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6A"/>
          </a:solidFill>
          <a:ln xmlns:a="http://schemas.openxmlformats.org/drawingml/2006/main" w="0">
            <a:solidFill>
              <a:srgbClr val="3147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EE805-01F2-4970-8CCC-4539CD51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7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7C4"/>
                </a:solidFill>
                <a:latin typeface="Aptos"/>
                <a:ea typeface="Aptos"/>
                <a:cs typeface="Aptos"/>
              </a:rPr>
              <a:t>SELTEMPLATE 项目接入与商业化分析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27003-1B89-450B-944B-FA865064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24E62-8FDF-4F52-827E-BDFB3B1A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rPr>
              <a:t>第一次对接客户前，要准备三类输入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55CF4-26BD-4D5F-B8A5-EAD70E62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不要带着“先聊聊看”进场，至少要准备商务材料、技术样例和访谈问题。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AFEA2-D2D8-49D6-B703-34E22266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5C144-68A0-4187-B75B-E8841039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商务准备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E5696-DEBD-4A31-9DB3-0A4C77AA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AB601-1ED2-44AD-B076-F5225E30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288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团队介绍、案例清单、过往行业经验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CE9BB-E78C-496D-9D6E-2289ED5E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9E77B-0F33-48D8-BA8B-48019CB0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标准需求访谈表与范围边界说明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9B845-018E-4D1E-A33D-F2D2410C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4221-EF79-4BEF-A3B2-0D7E7E27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报价维度、排期框架、售后范围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6BC76-AE5B-47AC-99C5-68B9713F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B4209-A1AD-43FE-9D9A-717D4D82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289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可展示的交付清单与合作方式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D95E8-B6E1-44A0-984F-052FD85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BE750-6BC8-43C1-9305-40B5FCB2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初步合同条款与验收节点口径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EE084-335C-4D2D-A16B-64311919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F0057-9E5B-4B76-B0D7-686FA246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526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技术准备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C5F68-9585-4C3D-836F-AB7230EF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47CC0-6CAB-43FC-B2D3-AB30F116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288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SELSP 后端样例与接口说明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F6647-97B8-46D4-9634-F7141A53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1DC00-F325-4900-A781-B948C32B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SELVUE 前端样例与全套启动脚本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CB448-3275-4D37-9028-6034511A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3113F-253B-4197-920B-7544E73F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622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SELTHEME 主题 demo 与预览入口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34732-6E08-4957-BBDD-44A45869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033E4-1D9D-42A4-B039-5701DA0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289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数据库设计、详细设计、测试样例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ABBC6E-D731-4C84-8C0B-F803A291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E9B6DA-0D51-4444-9232-7B35D855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956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本地一键启动、截图和验证证据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2202EC-A297-45F4-B348-9953AC29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9BE7B4-4322-43C6-B9F7-CAF56A90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访谈问题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888EB3-DBD0-410D-BFA7-F6617972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81701B-E59E-4452-A11D-242FAA7C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288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项目属于什么行业，目标用户是谁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43D7C9-BEC5-45E8-8EE5-CEDBBD68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5C5E7E-5C5C-4132-9CC6-93E40A77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955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要解决的业务问题和当前痛点是什么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8F1D4A-728A-418E-A48A-9ADC8647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48F463-E16A-49D2-94D0-D6DE32B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622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是否已有旧系统、原型、数据或接口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DC96B6-35B3-46F4-A7AC-D218741F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0A3425-17F7-4605-8357-FEE3523C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289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本期必须上线什么，哪些可后置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927C5F-B35E-4313-8FAE-55BDFCB5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2FA901-F43F-474A-B4E5-873D79FC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95625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时间、预算、部署方式和维护要求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95FBF6-0453-4E02-95B6-CF566956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104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第一次会议的目标：拿到足够的业务输入和边界条件，而不是提前承诺所有细节。</a:t>
            </a:r>
          </a:p>
        </p:txBody>
      </p:sp>
    </p:spTree>
    <p:extLst>
      <p:ext uri="{BB962C8B-B14F-4D97-AF65-F5344CB8AC3E}">
        <p14:creationId xmlns:p14="http://schemas.microsoft.com/office/powerpoint/2010/main" val="19083657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60837F-46B6-4BCA-96BD-6670D114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5"/>
          </a:solidFill>
          <a:ln xmlns:a="http://schemas.openxmlformats.org/drawingml/2006/main" w="0">
            <a:solidFill>
              <a:srgbClr val="0E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AB68B-4659-4086-835E-31FC8742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D7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8786D-BBC1-48FB-A0AD-ACCC470F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239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07D64-D70D-4EC6-82F9-905A13D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PROJECT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BB781-A63A-4DCB-B171-A91F3745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6A"/>
          </a:solidFill>
          <a:ln xmlns:a="http://schemas.openxmlformats.org/drawingml/2006/main" w="0">
            <a:solidFill>
              <a:srgbClr val="3147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D394C-04CD-4453-98E8-BC07F908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7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7C4"/>
                </a:solidFill>
                <a:latin typeface="Aptos"/>
                <a:ea typeface="Aptos"/>
                <a:cs typeface="Aptos"/>
              </a:rPr>
              <a:t>SELTEMPLATE 项目接入与商业化分析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1F347-4211-449C-AF2D-8FA6A050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6B7C0-6BCC-42F6-A178-8446807E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rPr>
              <a:t>立项后先做输入冻结，再进入工程开发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D25E3-DBB8-4E0E-B86B-5EC0C8F9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目录、角色、范围、里程碑和数据对象越早固定，后续返工越少。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1B0F9-246C-45CE-BAA9-165C5B57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DFFA7-0516-49B0-9317-61212A8A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通用准备项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E2371-D887-47F8-9CEA-B0015497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A408D-30B6-47FD-A39C-F40A8C0D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冻结需求版本与模块边界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ED76E-24E6-45DD-957A-6A16FC2F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86495-70EB-4F26-9844-2324261D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确认角色、页面、接口与主数据对象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39AC1-DF10-47B2-A5AD-2332881A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B2CAD-9889-478F-82AE-5205D692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建立项目目录、版本库与里程碑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765AC-9C1A-48FB-B5FB-B52F4A0C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1E60C-F923-46DC-B45C-18ABEC75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形成风险清单、待确认清单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CF375-9007-4335-B44C-F60CA69E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3FAD5-0EAF-4AE2-8621-840169AA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确认部署环境与验收节点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C4DCD-DDE4-4DDD-94A6-5ED2933E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12275-B4E6-4088-B135-A5069029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明确本期交付物和后续扩展项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632CD-A832-480C-A0B8-3383F29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3048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A083F-2EA4-4E34-B10A-8F360C3F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716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可直接复用模板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EDA161-F711-4A01-AAAC-02E0ADB5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5E318F-4ED6-41E6-8D28-83323A03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478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SELSP：后端骨架、测试、启动脚本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91578C-8E1D-462B-AC3A-604702EF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20372-B0D5-4FC5-A798-9D10DBE5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145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SELVUE：前端分层、代理、启动器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D79D5F-87C8-4E73-A8FD-CD7A3168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0B2C6B-D7BE-428B-9C5B-31AAB24C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812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SELTHEME：主题包、demo、预览脚本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BC9882-D7D1-428F-8DDD-265D1586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22F41A-FD6C-434A-A377-89E6C64B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479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架构-AI：Java / Vue / 主题规范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24102B-3762-4036-8BA8-869F3FBD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279141-032E-4094-AAC5-E931305C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146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执行文档、经验查询、记账闭环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765E43-9C63-458C-80FB-10CE4758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38300"/>
            <a:ext cx="3810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44F3D8-B0CE-4E18-BC54-31D7BC14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71650"/>
            <a:ext cx="3467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立项后的输入管理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1A6632-B343-4DC7-86B1-2FEBCA1B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B19"/>
          </a:solidFill>
          <a:ln xmlns:a="http://schemas.openxmlformats.org/drawingml/2006/main" w="9525">
            <a:solidFill>
              <a:srgbClr val="FFCA7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16C58D-C62B-4D23-9A25-9F0179B2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必须冻结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6D2D96-B362-4286-84D8-0FCE8D5A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516CB9-2FC8-4757-9A2A-4B558C04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479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模块范围、主流程、核心字段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AD984D-8DCF-4228-971C-2AF0B2F2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919126-F8AE-4A8E-B0BB-C45DFBC5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955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本期上线节点和验收标准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C6D46F-CC79-4AAD-918B-7ADD4892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B12270-797B-4BDD-A8DF-5696AB73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432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主要对接系统与接口口径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52AAF8-CC7C-445E-8974-74E56C3F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036"/>
          </a:solidFill>
          <a:ln xmlns:a="http://schemas.openxmlformats.org/drawingml/2006/main" w="9525">
            <a:solidFill>
              <a:srgbClr val="7EF7C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644112-DB49-4BAC-8E37-7117CAE8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可演进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6FD35-FE7E-4757-AA2E-D1ABC572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ACAC29-124F-4ECD-B9E0-41400125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814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视觉风格细节和主题增强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CD60F1-5EAA-4AC3-9BA3-BF89844F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C77D8A-E514-4274-BCB6-0FE23F16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290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次级报表、次级筛选和边缘功能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A0FB8C-B52C-45EF-AEE5-BBAD585D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65EF9D-3E8C-4F21-B2CA-3AC8DAD4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767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二期扩展、运营工具和商业化包装</a:t>
            </a:r>
          </a:p>
        </p:txBody>
      </p:sp>
    </p:spTree>
    <p:extLst>
      <p:ext uri="{BB962C8B-B14F-4D97-AF65-F5344CB8AC3E}">
        <p14:creationId xmlns:p14="http://schemas.microsoft.com/office/powerpoint/2010/main" val="14411978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461689-2890-47C2-9144-504F7022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5"/>
          </a:solidFill>
          <a:ln xmlns:a="http://schemas.openxmlformats.org/drawingml/2006/main" w="0">
            <a:solidFill>
              <a:srgbClr val="0E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FB28C-7CC4-4909-9988-5072F7A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D7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6E546-5E99-48A3-966E-4F473877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239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EF9A6-1623-4105-849C-CB1150DD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ENGINEERING MATRIX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30CCC-CECF-468C-823C-E0090AEE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6A"/>
          </a:solidFill>
          <a:ln xmlns:a="http://schemas.openxmlformats.org/drawingml/2006/main" w="0">
            <a:solidFill>
              <a:srgbClr val="3147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14B40-4503-4FA8-8C78-7007440D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7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7C4"/>
                </a:solidFill>
                <a:latin typeface="Aptos"/>
                <a:ea typeface="Aptos"/>
                <a:cs typeface="Aptos"/>
              </a:rPr>
              <a:t>SELTEMPLATE 项目接入与商业化分析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EE6D0-1956-41A8-9BD4-75133713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69DE8-BF5F-430F-9898-ACFDE226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rPr>
              <a:t>Java / Vue / Python 的工程准备与交付标准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36C5E-8EF1-405A-A399-F48A209E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交付不只是把代码写完，而是三类工程都要具备可运行、可验证、可交付的最小闭环。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CA952-663C-480F-9EF3-667734AE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104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C2DFB-4144-4C15-9261-AC62F7ED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070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工程交付矩阵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92D2A-9200-4C1C-9684-8BF6DCCE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049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2C82A-8291-421A-8BBF-30C97920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维度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55C02-2A8C-43E8-914F-8B0483C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A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DBE45-821A-4D4E-9A61-8E2DCC17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669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Java 工程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13EFE-6CFA-4778-A16D-DC7C655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A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B5C09-BED1-40FD-BCB7-6666B914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Vue 工程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41AFA-8217-4150-8692-46BC3400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4A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E1277-0E4E-48C8-BA09-66098275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Python 工程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7FBD2-E4FA-476B-BE06-074542F9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3A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6A021-45DC-4A5C-B30E-96BA79F8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骨架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445FF-73C7-41DB-A40D-C6306AC8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F4F711-DC88-487C-AD9D-1063C2AC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分层、配置、统一响应、测试基线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5030D-52D6-4257-90C7-D49D858D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58BDA-8960-4BED-8FFE-D37D4151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views / components / composables / services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9517C-1AF4-41E7-B08C-BADC24CA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295C7-0533-41B1-B122-7C74515B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依赖管理、日志、配置、任务入口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C9F4C-E2B1-4509-B176-96662AE3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3A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62A45-62B6-403C-9CBF-4B2D201A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运行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B1CA3B-06DE-4036-AAF2-71C8B093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A275C-8D3B-4FD5-8A93-BD0BF8D8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application 配置、DB、启动脚本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CF1AE-E756-42A2-B6CA-4E428526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AACCF2-17F7-4C89-B3A7-7D2D2049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575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Vite、代理、前端 / 全套脚本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F308DC-5FF1-4CE2-96C2-EFA8A13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199DCF-83C6-4DBB-9177-11F06409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venv、配置、执行脚本、输入输出目录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7DBDDA-3101-4DB3-B70F-B492284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3A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9AF90E-BBE1-4B38-96DB-F6268E13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文档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03BE5C-B1B5-429D-AB65-0D699F04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6CF7BC-5AA9-4F3E-80AD-380F9E76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671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接口、数据库、详细设计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90621B-144E-47CB-B636-BCB90C16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719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E22613-B507-4F44-86F8-47100D85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71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页面设计、主题说明、联调说明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4569D7-8581-42DD-A6F4-624F22DB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719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D25A25-E103-4BAF-8A91-1E55AA30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6715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任务说明、参数说明、调度说明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5B8B09-4F4A-4D80-9D3D-E0415B82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3A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660D0C-5DC7-4EE0-B916-DB46B526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FA2C05-F89D-4544-9D69-493C314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0116BB-7FF8-4F0E-936A-3DE8B1D4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767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单测、集成测、接口回归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EC49FD-CD9A-4F90-8806-EA813874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123C1C-6E68-47AF-B536-018DD432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构建、页面、脚本、联调验证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E5BC0E-4393-4C22-B5AD-C4845C59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E5AD61-BE7A-4483-9FF1-264FB26A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7675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样例数据、输出核对、异常重试验证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6A697D-8A4D-4110-9520-8B19FE0B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3A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761E5B-0AEB-4BDC-BF36-B5B25111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D5CEDB-FF60-44CF-B294-2A1E3B95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FF652D-7607-4210-A313-1BECA188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863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源码 + SQL + 部署说明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643017-75A4-4031-8488-96B4707F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392C34-3CD7-40A3-964A-B770B008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863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源码 + 主题 + 构建产物说明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836630-CBBE-415A-A29B-959DBA88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B590DF-19FD-4CE9-B697-064AAFF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8635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源码 + 运行说明 + 样例数据</a:t>
            </a:r>
          </a:p>
        </p:txBody>
      </p:sp>
    </p:spTree>
    <p:extLst>
      <p:ext uri="{BB962C8B-B14F-4D97-AF65-F5344CB8AC3E}">
        <p14:creationId xmlns:p14="http://schemas.microsoft.com/office/powerpoint/2010/main" val="13429339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DE1E4-57A1-4553-83B5-0D47844B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5"/>
          </a:solidFill>
          <a:ln xmlns:a="http://schemas.openxmlformats.org/drawingml/2006/main" w="0">
            <a:solidFill>
              <a:srgbClr val="0E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3E27C-82AC-494B-A93B-8D9C5620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D7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7F265-CDBD-4F65-B650-659F6509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239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EBE71-8FFE-4D5D-92F0-31FA3D04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DELIVERY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F070D-A4DA-4856-8A8B-0185C9FD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6A"/>
          </a:solidFill>
          <a:ln xmlns:a="http://schemas.openxmlformats.org/drawingml/2006/main" w="0">
            <a:solidFill>
              <a:srgbClr val="3147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6F26C-D71C-4B2D-B8E9-1376F4F4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7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7C4"/>
                </a:solidFill>
                <a:latin typeface="Aptos"/>
                <a:ea typeface="Aptos"/>
                <a:cs typeface="Aptos"/>
              </a:rPr>
              <a:t>SELTEMPLATE 项目接入与商业化分析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C6819-51BC-48C5-977D-A6979255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252E7-F26B-4B14-92A6-69FB6570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rPr>
              <a:t>达到“可交付”时，至少要有三层交付物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ECC46-8F80-4D7A-B1E7-B3EFE778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技术交付物解决“能运行”，文档交付物解决“能理解”，验收交付物解决“能签收”。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E55DE-56EC-43FA-B239-2CE1A8AF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F7862-E44F-4FFC-AA26-4383D2D6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技术交付物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B2377-19D1-49FE-A56B-D580412A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E55ED-D2A3-44D4-895C-E7365F50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后端 / 前端 / Python 源码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92A9F-AE4B-4BA6-896F-178825CA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4C6C0-D8FE-445F-8C5D-606270EC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数据库脚本与配置文件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6171E-F956-4F85-B95E-70E00403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DF2C8-190C-4E46-B54E-D8339235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765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启动脚本与部署说明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90BA6-0F6A-478A-821A-379A8FC9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DEAD8-12BB-43F7-8214-434D3893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432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主题资产与预览入口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BFAA4-771D-4A1A-85AB-83CCE8DB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54839-3BDC-430B-BA94-CFC87ECD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环境依赖与构建方式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0EF82-6278-41A6-931E-7DC16E15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61E7A-4293-4495-B710-7B8DEB9B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669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文档交付物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0C894-0AD4-485E-A329-DCB5EB5D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F6E2EA-2C94-4D06-BBFB-967B2F12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431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需求确认版与范围说明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A631D-99D6-4E7C-ADC5-E89F12D6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F5B0E4-2314-41CE-90DE-12034631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98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架构设计、接口文档、数据库设计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3DA6B-9322-4B56-A6F6-E0499E75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BAD87C-2D79-4E47-9E47-2343C8D2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765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详细设计、页面说明、主题说明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E9B6EC-51A5-4996-B148-AD03A1C3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BC065-A97B-4325-9122-7822CFC6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432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部署说明、启动说明、运维说明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90C65E-8E04-41B8-9B15-15395106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C1A93A-FA94-4EE7-B85F-3E9E50E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99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用户使用说明与培训材料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A2456-E800-45B2-8316-51A6FE99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1A456F-CF0B-4534-9BF5-B836980B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669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验收交付物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EE9690-5BAF-4901-811D-6D116774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4B5520-E691-43B3-A7D8-95FC947B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431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测试报告与关键流程证据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4A3051-3C25-4F67-9287-D7EBDC1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560074-E0D5-44BB-948C-0E2B2BAC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98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功能验收清单与已知问题清单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2425EE-0F37-4CCD-83DE-47E7935B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EBCCE6-BD73-4B30-9375-7163477A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765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上线建议与试运行反馈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FC9432-87A5-40D4-AB6D-FB693B72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663B12-7F10-43FB-870E-60450120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432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培训记录与维护范围说明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F33FBF-EB9C-47E4-9C63-DC960118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3F1AC4-9B6B-41AD-AB67-BA52A890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09925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二期扩展建议与复购入口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C83CF7-7B81-430A-B137-A92942D1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交付能力的核心不是“做完一个系统”，而是把工程、文档、验证和签收证据一起做完。</a:t>
            </a:r>
          </a:p>
        </p:txBody>
      </p:sp>
    </p:spTree>
    <p:extLst>
      <p:ext uri="{BB962C8B-B14F-4D97-AF65-F5344CB8AC3E}">
        <p14:creationId xmlns:p14="http://schemas.microsoft.com/office/powerpoint/2010/main" val="5904912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0F5CB7-273B-4364-8869-1242D2D6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5"/>
          </a:solidFill>
          <a:ln xmlns:a="http://schemas.openxmlformats.org/drawingml/2006/main" w="0">
            <a:solidFill>
              <a:srgbClr val="0E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64A75-C0B6-4C95-8C0B-403C7B84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D7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1B3BC-F9FF-4525-AD20-09921A6F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239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556EB-7206-4330-92CA-AD9B5BA7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BUSINESS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41671-7DDF-478D-8508-9FBCC63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6A"/>
          </a:solidFill>
          <a:ln xmlns:a="http://schemas.openxmlformats.org/drawingml/2006/main" w="0">
            <a:solidFill>
              <a:srgbClr val="3147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38C18-D9F6-4CC9-8FBB-5D887A13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7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7C4"/>
                </a:solidFill>
                <a:latin typeface="Aptos"/>
                <a:ea typeface="Aptos"/>
                <a:cs typeface="Aptos"/>
              </a:rPr>
              <a:t>SELTEMPLATE 项目接入与商业化分析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91954-89A2-47B9-B29F-0109DB01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89272-5CF5-4F34-9141-74B17B51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rPr>
              <a:t>商业价值判断：B2B 最强，B2C 可做，通用底座价值最高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7C5F4-AB38-4398-9F3F-672A41C8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当前模板体系的优势在标准化交付、可复制方法和行业后台场景，而不是纯消费运营爆发力。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0EC36-91E0-41E0-A452-4290614D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3238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D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F6F47-E1F6-46CB-85F7-4E95C981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B2B 适配度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5FB9C-9B5D-4E0A-86B9-CFAEE31B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EF7C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EF7C9"/>
                </a:solidFill>
                <a:latin typeface="Aptos Display"/>
                <a:ea typeface="Aptos Display"/>
                <a:cs typeface="Aptos Display"/>
              </a:rPr>
              <a:t>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D3E94-5CAB-4DDF-A536-86F09D2B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895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企业客户更看重可控交付、文档、权限、部署、验收和售后，这正是当前模板体系最成熟的部分。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4FC51-8876-4615-8DC3-E58F6007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33550"/>
            <a:ext cx="3238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D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EAE5D-3C18-47D6-ADC6-CC042AE2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B2C 适配度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A6EED-C842-41DD-AB22-1C3D2695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CA7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CA7A"/>
                </a:solidFill>
                <a:latin typeface="Aptos Display"/>
                <a:ea typeface="Aptos Display"/>
                <a:cs typeface="Aptos Display"/>
              </a:rPr>
              <a:t>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AD67F-6010-4F28-A592-E4FD9D80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2895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能做轻工具型和轻 SaaS 型产品，但若进入重运营型消费平台，还需要补增长、支付、用户研究和运营机制。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A9978-CA76-4325-A78E-E4AD6616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33550"/>
            <a:ext cx="38100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D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01ECA-2790-4809-8EEB-7CA0E025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3467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通用底座价值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5FB38-D8E9-4BD9-9021-38E06475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E6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FE6FF"/>
                </a:solidFill>
                <a:latin typeface="Aptos Display"/>
                <a:ea typeface="Aptos Display"/>
                <a:cs typeface="Aptos Display"/>
              </a:rPr>
              <a:t>很高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9F0BB-F0D9-4197-A220-FFE623AF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3467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模板工程、主题工程、启动器、测试与文档体系可以复用到多个行业项目，具备沉淀成标准交付底座的价值。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B0F53-0049-4192-AE42-1DF461DE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5143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DB964-857A-479F-ACA5-DF3970B3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480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为什么 B2B 是当前主战场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F99DD-08A5-4D76-88FA-31B24ED9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68105-9B12-4955-B5EB-D18F50E9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86275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模板复用率高，适合管理后台与行业业务系统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0DBBA-A733-43A3-A702-D4D6BABF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952AA-7EF4-4B68-8018-70FC1371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52975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客户更重视可控交付和上线质量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230747-A7BB-440C-BBC3-0FDC2D02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C21A2-ABA0-43CB-A8FA-7F9295DB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文档、测试、权限和脚本都是可收费的明确价值项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7D6B02-FD12-4788-9BF9-68CA554F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E287C1-F309-431E-B0E1-B2B386FC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更容易从项目交付进化到行业方案复用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C3206F-6FF1-4C41-983C-7BB26588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5524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0DA400-4CE1-49D8-99F6-453152A2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518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B2C 与通用价值的推进方式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72FFC4-3C60-4A86-B741-2E0ACDD7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95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01DF9D-972B-45BB-A52D-1C3F8A4E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02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B2C 先从轻工具、轻 SaaS、AI 辅助工具切入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97E933-21E9-4705-9C9D-CB0593A6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F1F2B9-D1C6-42B5-BA05-6DE164FB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02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把通用工程模板、主题模板和交付方法打包成可复制资产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E6E09B-FC4B-4E9C-8F0C-F633A102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A776C5-4E18-4373-833B-B85EEC86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9675"/>
            <a:ext cx="502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在行业项目中持续抽象出可复用模块，再回收进模板仓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5AA24E-20F0-4462-9531-2BCC7552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95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F7C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EF7C9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3DF980-6277-4410-928F-CA03EEC0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86375"/>
            <a:ext cx="502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从“做项目”升级到“卖方法、卖模板、卖解决方案”</a:t>
            </a:r>
          </a:p>
        </p:txBody>
      </p:sp>
    </p:spTree>
    <p:extLst>
      <p:ext uri="{BB962C8B-B14F-4D97-AF65-F5344CB8AC3E}">
        <p14:creationId xmlns:p14="http://schemas.microsoft.com/office/powerpoint/2010/main" val="1154546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3A104-5C50-4920-8754-A529BC49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25"/>
          </a:solidFill>
          <a:ln xmlns:a="http://schemas.openxmlformats.org/drawingml/2006/main" w="0">
            <a:solidFill>
              <a:srgbClr val="0E152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CC89F-A67E-43F5-BC9A-774E1F2D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D7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2EDC7-5232-4678-9545-228782E2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239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534FF-D16F-436B-91A3-6D7D3E82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FE6FF"/>
                </a:solidFill>
                <a:latin typeface="Aptos Mono"/>
                <a:ea typeface="Aptos Mono"/>
                <a:cs typeface="Aptos Mono"/>
              </a:rPr>
              <a:t>INDUSTRY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8BBD6-B2F8-44FD-80E0-24AEF46B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6A"/>
          </a:solidFill>
          <a:ln xmlns:a="http://schemas.openxmlformats.org/drawingml/2006/main" w="0">
            <a:solidFill>
              <a:srgbClr val="3147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74A14-74F5-4CCA-8D32-3E4433FE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5A7C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5A7C4"/>
                </a:solidFill>
                <a:latin typeface="Aptos"/>
                <a:ea typeface="Aptos"/>
                <a:cs typeface="Aptos"/>
              </a:rPr>
              <a:t>SELTEMPLATE 项目接入与商业化分析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A8011-15EC-45BB-93C3-FE0DD00F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5A7C4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1CA41-9259-46BF-80BE-C0BC097A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AFF"/>
                </a:solidFill>
                <a:latin typeface="Aptos Display"/>
                <a:ea typeface="Aptos Display"/>
                <a:cs typeface="Aptos Display"/>
              </a:rPr>
              <a:t>行业定位建议：先打管理后台，再做行业模板，再做产品化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EC279-B0AD-4404-B232-1AACEC9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当前体系最适合从教育培训、企业服务、内部管理和轻量政企协同切入。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4FD2D-F5FE-47CF-82D0-A51C1B23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6195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77DE3-8B7D-4444-AAEB-EA3BE90E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首批切入行业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EC048-2F71-455A-B5F0-C309B541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8A57C-48A9-42B8-A3D5-D37BBA32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050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教育培训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4489F-7161-4EDF-B219-B7EF2EFB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115CD-8DA7-4D0D-84F0-529D4BEF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企业服务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4201A-5BCA-4EB2-B6D9-F87EDBD1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23FB4-C232-47FA-95E8-D180A6F7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内部管理系统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A471D-FF0E-4301-B88E-53C302F0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4AD2E-0FB2-49C7-8734-1798DBF0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轻量政企协同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7979FA-C834-4A5F-AC1A-44FD6676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1703F-B829-4578-8384-C008E4F0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718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咨询服务数字化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1BD7B-70CA-4C27-9D30-C4447406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F4749-A139-4110-AC65-45CBDC5A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385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中小型运营后台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56D30-BDAD-4F29-9332-309511B7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3A"/>
          </a:solidFill>
          <a:ln xmlns:a="http://schemas.openxmlformats.org/drawingml/2006/main" w="9525">
            <a:solidFill>
              <a:srgbClr val="7EF7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56112F-BF12-4BE6-9891-53D395A0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模板复用率高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7040E0-ADF1-4B25-92AB-772F3096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2385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4FD29-3B4A-4172-8879-C81A31E2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288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首批承接场景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BC0107-68A7-45EC-9FE5-D6F4237C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93D34-59DA-42B5-B190-DCD28945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05025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用户与权限系统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12216-28FD-465A-BA30-31A21FB9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E2111-B54F-4EB4-965B-2B90E5BF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71725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CRM / 客户管理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47A42-09F0-45D5-84F9-665FBC3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7C161-71D5-4649-8260-83C79EEF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38425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培训与课程管理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098144-34C7-4AD2-98A5-ABF1B73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1E903A-D86B-4220-A1A4-B68D15F0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05125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任务、审批与台账系统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C9D04-81C4-4584-A3F0-9F4B5639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81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B3AD55-23C4-4A78-B977-FF2ED8C1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71825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报名、录入与数据后台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0D13E8-C123-491A-BB96-90C4EF80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48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E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E6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A132DA-7DE6-4668-ABF2-F225D368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38525"/>
            <a:ext cx="274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轻量运营管理台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64A790-7CE4-4128-9400-EB3F51E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4A"/>
          </a:solidFill>
          <a:ln xmlns:a="http://schemas.openxmlformats.org/drawingml/2006/main" w="9525">
            <a:solidFill>
              <a:srgbClr val="4BBB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460CE7-78EE-475C-A789-8CA06FEF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339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交付路径最稳定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9941DC-DE8D-4D53-8391-7E2F270F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36195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1476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4CD3A6-F537-4B0B-A24B-8E264F2A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后续拓展路线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88EC5D-5428-44C2-B59C-6B40D27F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F3598E-CE63-4907-BCDD-7373477E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050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医疗辅助管理、零售后台、园区物业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BF23CD-608F-4D8A-A34E-BF1AF4CA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A8BCDA-D36A-4230-8AA1-47F6D079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717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供应链协同、制造执行辅助平台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AF6F7D-398C-498E-987F-D220A3B9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CF6BE0-B164-4ED8-A2BF-D62652DF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384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AI 行业工具平台与轻 SaaS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556F8F-A564-40B9-8C31-343350C8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75B053-BEF7-479E-8334-68A6951F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051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先沉淀行业模板，再抽成解决方案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78A759-9F4B-4529-9E9B-8BAD5FE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A7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DA7D22-83DA-41A7-8C73-BF811BD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718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最后再走平台化和标准产品化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AF03A1-A415-4AC6-99E7-0DCDC65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B19"/>
          </a:solidFill>
          <a:ln xmlns:a="http://schemas.openxmlformats.org/drawingml/2006/main" w="9525">
            <a:solidFill>
              <a:srgbClr val="FFCA7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D2B79D-A087-4DFB-BABA-C307FFCA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33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先行业化，后平台化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94B01D-2BA1-497F-9130-CE236DA8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F"/>
                </a:solidFill>
                <a:latin typeface="Aptos"/>
                <a:ea typeface="Aptos"/>
                <a:cs typeface="Aptos"/>
              </a:rPr>
              <a:t>最终建议：把 SELTEMPLATE 持续经营成模板样例仓，再围绕 B2B 行业项目沉淀报价模板、交付清单和行业解决方案。</a:t>
            </a:r>
          </a:p>
        </p:txBody>
      </p:sp>
    </p:spTree>
    <p:extLst>
      <p:ext uri="{BB962C8B-B14F-4D97-AF65-F5344CB8AC3E}">
        <p14:creationId xmlns:p14="http://schemas.microsoft.com/office/powerpoint/2010/main" val="666258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2026-05-24T03:30:46.6520000Z</dcterms:created>
  <dcterms:modified xsi:type="dcterms:W3CDTF">2026-05-24T03:30:46.6520000Z</dcterms:modified>
</coreProperties>
</file>